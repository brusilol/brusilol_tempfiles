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BEEFF"/>
                </a:solidFill>
              </a:rPr>
              <a:t>PLANO DE IMPLANTAÇÃO PRODUTIVA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Pipeline de Sensoriamento Remoto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03504" y="1335024"/>
            <a:ext cx="80924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7EFF8"/>
                </a:solidFill>
              </a:rPr>
              <a:t>Gantt executivo para organizar as entregas de segmentação de talhões, classificação de culturas e estimativa de plantio/colheita entre R3 e R4.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2A3F5F"/>
          </a:solidFill>
          <a:ln w="12700">
            <a:solidFill>
              <a:srgbClr val="64B5CD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66544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B5CD"/>
                </a:solidFill>
              </a:rPr>
              <a:t>R3 · 4 sprints · 06/jul a 25/set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993392"/>
            <a:ext cx="2487168" cy="292608"/>
          </a:xfrm>
          <a:prstGeom prst="roundRect">
            <a:avLst>
              <a:gd name="adj" fmla="val 25000"/>
            </a:avLst>
          </a:prstGeom>
          <a:solidFill>
            <a:srgbClr val="2A3F5F"/>
          </a:solidFill>
          <a:ln w="12700">
            <a:solidFill>
              <a:srgbClr val="DD8452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2066544"/>
            <a:ext cx="2340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D8452"/>
                </a:solidFill>
              </a:rPr>
              <a:t>R4 · 4 sprints · 28/set a 18/dez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79008" y="199339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2A3F5F"/>
          </a:solidFill>
          <a:ln w="12700">
            <a:solidFill>
              <a:srgbClr val="55A86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066544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5A868"/>
                </a:solidFill>
              </a:rPr>
              <a:t>Time: 3 engenheiros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" y="28803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880360"/>
            <a:ext cx="73152" cy="205740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03580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1 · Segmentação de talhões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3355848"/>
            <a:ext cx="3118104" cy="1472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Gerar, versionar e validar segmentos GeoSAM em escala produtiva, com métricas de pureza, cobertura e custo por processamento.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343400" y="28803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2880360"/>
            <a:ext cx="73152" cy="2057400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03580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2 · Classificação de culturas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568" y="3355848"/>
            <a:ext cx="3118104" cy="1472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Produzir probabilidades data a data para soja, milho e outros, com base saneada, negativos reais, calibração e inferência em lote.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092440" y="288036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880360"/>
            <a:ext cx="73152" cy="205740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303580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3 · Plantio e colheita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93608" y="3355848"/>
            <a:ext cx="3118104" cy="1472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Estimar datas por segmento com séries temporais de índices, regras fenológicas, incerteza e integração com a confiança da classificação.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3F5F"/>
                </a:solidFill>
              </a:rPr>
              <a:t>Resultado esperado: MVP produtivo em R3 e endurecimento/escala em R4.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Calendário de sprints e premissas de planejamento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5440680" cy="329184"/>
          </a:xfrm>
          <a:prstGeom prst="roundRect">
            <a:avLst>
              <a:gd name="adj" fmla="val 13889"/>
            </a:avLst>
          </a:prstGeom>
          <a:solidFill>
            <a:srgbClr val="E8EEF8"/>
          </a:solidFill>
          <a:ln w="12700">
            <a:solidFill>
              <a:srgbClr val="C8D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234440"/>
            <a:ext cx="5440680" cy="329184"/>
          </a:xfrm>
          <a:prstGeom prst="roundRect">
            <a:avLst>
              <a:gd name="adj" fmla="val 13889"/>
            </a:avLst>
          </a:prstGeom>
          <a:solidFill>
            <a:srgbClr val="FCEBDC"/>
          </a:solidFill>
          <a:ln w="12700">
            <a:solidFill>
              <a:srgbClr val="E8C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5257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R3 · construir o MVP produtivo e provar o fluxo fim a fim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217920" y="1325880"/>
            <a:ext cx="5257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D8452"/>
                </a:solidFill>
              </a:rPr>
              <a:t>R4 · escalar, endurecer e preparar operação assistida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2B0"/>
                </a:solidFill>
              </a:rPr>
              <a:t>S1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06–24/jul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19659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2B0"/>
                </a:solidFill>
              </a:rPr>
              <a:t>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27/jul–14/ago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33375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2B0"/>
                </a:solidFill>
              </a:rPr>
              <a:t>S3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17/ago–04/set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2B0"/>
                </a:solidFill>
              </a:rPr>
              <a:t>S4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07–25/set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8452"/>
                </a:solidFill>
              </a:rPr>
              <a:t>S5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28/set–16/out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74523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8452"/>
                </a:solidFill>
              </a:rPr>
              <a:t>S6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19/out–06/nov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8239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8452"/>
                </a:solidFill>
              </a:rPr>
              <a:t>S7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09–27/nov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10195560" y="1737360"/>
            <a:ext cx="13075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68712" y="1828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8452"/>
                </a:solidFill>
              </a:rPr>
              <a:t>S8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0" y="2093976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C8A"/>
                </a:solidFill>
              </a:rPr>
              <a:t>30/nov–18/dez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94360" y="2651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F5F"/>
                </a:solidFill>
              </a:rPr>
              <a:t>Premissas para organizar o Gantt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4360" y="297180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971800"/>
            <a:ext cx="73152" cy="105156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12724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MVP R3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" y="3447288"/>
            <a:ext cx="330098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Até o fim da S4, cada modelo deve rodar no pipeline integrado em amostra controlada, com logs, artefatos versionados e métricas básicas.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370832" y="2971800"/>
            <a:ext cx="3611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2971800"/>
            <a:ext cx="73152" cy="105156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12724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Escala R4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3447288"/>
            <a:ext cx="330098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S5–S8 priorizam robustez, observabilidade, automação, validação regional e redução de custo operacional.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147304" y="2971800"/>
            <a:ext cx="3337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7304" y="2971800"/>
            <a:ext cx="73152" cy="1051560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8472" y="3127248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Operação assistida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48472" y="3447288"/>
            <a:ext cx="302666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A primeira entrada produtiva deve ter shadow run, critério de bloqueio por qualidade e revisão de exceções.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94360" y="4343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F5F"/>
                </a:solidFill>
              </a:rPr>
              <a:t>Gates de release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" y="4983480"/>
            <a:ext cx="22860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466344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773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C72B0"/>
                </a:solidFill>
              </a:rPr>
              <a:t>Gate S2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722376" y="5010912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dados e contratos estáveis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566160" y="4983480"/>
            <a:ext cx="22860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37560" y="466344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4773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D8452"/>
                </a:solidFill>
              </a:rPr>
              <a:t>Gate S4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3465576" y="5010912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MVP integrado R3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09360" y="4983480"/>
            <a:ext cx="22860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66344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773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5A868"/>
                </a:solidFill>
              </a:rPr>
              <a:t>Gate S6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208776" y="5010912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escala e calibração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052560" y="4983480"/>
            <a:ext cx="2286000" cy="0"/>
          </a:xfrm>
          <a:prstGeom prst="line">
            <a:avLst/>
          </a:prstGeom>
          <a:noFill/>
          <a:ln w="12700">
            <a:solidFill>
              <a:srgbClr val="F7F9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23960" y="466344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15400" y="477316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5A868"/>
                </a:solidFill>
              </a:rPr>
              <a:t>Gate S8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8951976" y="5010912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operação assistida R4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Gantt executivo — entregas dos três modelos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35024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A3F5F"/>
                </a:solidFill>
              </a:rPr>
              <a:t>Entrega / stream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090672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C72B0"/>
                </a:solidFill>
              </a:rPr>
              <a:t>S1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108960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06–24/jul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4170807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9095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C72B0"/>
                </a:solidFill>
              </a:rPr>
              <a:t>S2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189095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27/jul–14/ago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5250942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9230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C72B0"/>
                </a:solidFill>
              </a:rPr>
              <a:t>S3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269230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17/ago–04/set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6331077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365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C72B0"/>
                </a:solidFill>
              </a:rPr>
              <a:t>S4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49365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07–25/set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7411212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9500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D8452"/>
                </a:solidFill>
              </a:rPr>
              <a:t>S5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429500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28/set–16/out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491347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9635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D8452"/>
                </a:solidFill>
              </a:rPr>
              <a:t>S6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509635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19/out–06/nov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9571482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89770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D8452"/>
                </a:solidFill>
              </a:rPr>
              <a:t>S7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9589770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09–27/nov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10651617" y="1170432"/>
            <a:ext cx="0" cy="4983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69905" y="1243584"/>
            <a:ext cx="10435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D8452"/>
                </a:solidFill>
              </a:rPr>
              <a:t>S8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10669905" y="1453896"/>
            <a:ext cx="104355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F7C8A"/>
                </a:solidFill>
              </a:rPr>
              <a:t>30/nov–18/dez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3090672" y="1700784"/>
            <a:ext cx="86410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1979104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1783080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4C72B0"/>
                </a:solidFill>
              </a:rPr>
              <a:t>SEGMENTAÇÃO DE TALHÕES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438912" y="2257425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2061400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C72B0"/>
                </a:solidFill>
              </a:rPr>
              <a:t>Contratos de dados + STAC/Zarr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163824" y="2079688"/>
            <a:ext cx="933831" cy="95441"/>
          </a:xfrm>
          <a:prstGeom prst="roundRect">
            <a:avLst>
              <a:gd name="adj" fmla="val 47904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8688" y="2111692"/>
            <a:ext cx="824103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contratos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438912" y="2535746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2339721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C72B0"/>
                </a:solidFill>
              </a:rPr>
              <a:t>Batch GeoSAM + segment store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163824" y="2358009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18688" y="2390013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geração em lote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438912" y="2814066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2618041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C72B0"/>
                </a:solidFill>
              </a:rPr>
              <a:t>QA: pureza, cobertura, custo/FinOps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243959" y="2636329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8823" y="2668334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QA + custo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438912" y="3092386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2896362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C72B0"/>
                </a:solidFill>
              </a:rPr>
              <a:t>MVP produtivo + versionamento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6404229" y="2914650"/>
            <a:ext cx="933831" cy="95441"/>
          </a:xfrm>
          <a:prstGeom prst="roundRect">
            <a:avLst>
              <a:gd name="adj" fmla="val 47904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9093" y="2946654"/>
            <a:ext cx="824103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MVP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438912" y="3370707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3174683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C72B0"/>
                </a:solidFill>
              </a:rPr>
              <a:t>Escala, observabilidade e reprocessamento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484364" y="3192971"/>
            <a:ext cx="4174236" cy="95441"/>
          </a:xfrm>
          <a:prstGeom prst="roundRect">
            <a:avLst>
              <a:gd name="adj" fmla="val 47904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39228" y="3224975"/>
            <a:ext cx="406450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escala + hardening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438912" y="3649027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3453003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5A868"/>
                </a:solidFill>
              </a:rPr>
              <a:t>CLASSIFICAÇÃO DE CULTURAS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438912" y="3927348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" y="3731324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5A868"/>
                </a:solidFill>
              </a:rPr>
              <a:t>Base Gold + negativos reais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3163824" y="3749612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18688" y="3781616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base saneada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438912" y="4205669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" y="4009644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5A868"/>
                </a:solidFill>
              </a:rPr>
              <a:t>ResNeXt baseline + ablações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4243959" y="4027932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8823" y="4059936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baseline + eval</a:t>
            </a:r>
            <a:endParaRPr lang="en-US" sz="630" dirty="0"/>
          </a:p>
        </p:txBody>
      </p:sp>
      <p:sp>
        <p:nvSpPr>
          <p:cNvPr id="64" name="Shape 62"/>
          <p:cNvSpPr/>
          <p:nvPr/>
        </p:nvSpPr>
        <p:spPr>
          <a:xfrm>
            <a:off x="438912" y="4483989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" y="4287965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5A868"/>
                </a:solidFill>
              </a:rPr>
              <a:t>Inferência data-a-data + probabilidades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6404229" y="4306253"/>
            <a:ext cx="933831" cy="95441"/>
          </a:xfrm>
          <a:prstGeom prst="roundRect">
            <a:avLst>
              <a:gd name="adj" fmla="val 47904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59093" y="4338257"/>
            <a:ext cx="824103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MVP</a:t>
            </a:r>
            <a:endParaRPr lang="en-US" sz="630" dirty="0"/>
          </a:p>
        </p:txBody>
      </p:sp>
      <p:sp>
        <p:nvSpPr>
          <p:cNvPr id="68" name="Shape 66"/>
          <p:cNvSpPr/>
          <p:nvPr/>
        </p:nvSpPr>
        <p:spPr>
          <a:xfrm>
            <a:off x="438912" y="4762310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" y="4566285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5A868"/>
                </a:solidFill>
              </a:rPr>
              <a:t>Calibração + pós-processamento temporal</a:t>
            </a:r>
            <a:endParaRPr lang="en-US" sz="740" dirty="0"/>
          </a:p>
        </p:txBody>
      </p:sp>
      <p:sp>
        <p:nvSpPr>
          <p:cNvPr id="70" name="Shape 68"/>
          <p:cNvSpPr/>
          <p:nvPr/>
        </p:nvSpPr>
        <p:spPr>
          <a:xfrm>
            <a:off x="7484364" y="4584573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39228" y="4616577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evidência temporal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438912" y="5040630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" y="4844606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5A868"/>
                </a:solidFill>
              </a:rPr>
              <a:t>Shadow run + release classifier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9644634" y="4862894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99498" y="4894898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shadow + release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438912" y="5318951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" y="5122926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DD8452"/>
                </a:solidFill>
              </a:rPr>
              <a:t>PLANTIO / COLHEITA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438912" y="5597271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" y="5401246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D8452"/>
                </a:solidFill>
              </a:rPr>
              <a:t>Séries de índices + regras fenológicas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3163824" y="5419535"/>
            <a:ext cx="3094101" cy="95441"/>
          </a:xfrm>
          <a:prstGeom prst="roundRect">
            <a:avLst>
              <a:gd name="adj" fmla="val 47904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18688" y="5451539"/>
            <a:ext cx="2984373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features + regras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438912" y="5875592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" y="5679567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D8452"/>
                </a:solidFill>
              </a:rPr>
              <a:t>Estimativa MVP + validação inicial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5324094" y="5697855"/>
            <a:ext cx="2013966" cy="95441"/>
          </a:xfrm>
          <a:prstGeom prst="roundRect">
            <a:avLst>
              <a:gd name="adj" fmla="val 47904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78958" y="5729859"/>
            <a:ext cx="190423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MVP</a:t>
            </a:r>
            <a:endParaRPr lang="en-US" sz="630" dirty="0"/>
          </a:p>
        </p:txBody>
      </p:sp>
      <p:sp>
        <p:nvSpPr>
          <p:cNvPr id="86" name="Shape 84"/>
          <p:cNvSpPr/>
          <p:nvPr/>
        </p:nvSpPr>
        <p:spPr>
          <a:xfrm>
            <a:off x="438912" y="6153912"/>
            <a:ext cx="1129284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" y="5957888"/>
            <a:ext cx="2542032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D8452"/>
                </a:solidFill>
              </a:rPr>
              <a:t>Validação regional + incerteza + integração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7484364" y="5976176"/>
            <a:ext cx="4174236" cy="95441"/>
          </a:xfrm>
          <a:prstGeom prst="roundRect">
            <a:avLst>
              <a:gd name="adj" fmla="val 47904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39228" y="6008180"/>
            <a:ext cx="4064508" cy="5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validação + integração</a:t>
            </a:r>
            <a:endParaRPr lang="en-US" sz="630" dirty="0"/>
          </a:p>
        </p:txBody>
      </p:sp>
      <p:sp>
        <p:nvSpPr>
          <p:cNvPr id="90" name="Shape 88"/>
          <p:cNvSpPr/>
          <p:nvPr/>
        </p:nvSpPr>
        <p:spPr>
          <a:xfrm>
            <a:off x="438912" y="1170432"/>
            <a:ext cx="11292840" cy="4983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Atuação dos 3 engenheiros por sprint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280160"/>
            <a:ext cx="1490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3F5F"/>
                </a:solidFill>
              </a:rPr>
              <a:t>Pessoa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2996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C72B0"/>
                </a:solidFill>
              </a:rPr>
              <a:t>S1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5297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297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C72B0"/>
                </a:solidFill>
              </a:rPr>
              <a:t>S2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47598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598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C72B0"/>
                </a:solidFill>
              </a:rPr>
              <a:t>S3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69899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899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C72B0"/>
                </a:solidFill>
              </a:rPr>
              <a:t>S4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92200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FCEBD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D8452"/>
                </a:solidFill>
              </a:rPr>
              <a:t>S5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14501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FCEBD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501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D8452"/>
                </a:solidFill>
              </a:rPr>
              <a:t>S6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36802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FCEBD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802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D8452"/>
                </a:solidFill>
              </a:rPr>
              <a:t>S7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0591038" y="1143000"/>
            <a:ext cx="1186434" cy="310896"/>
          </a:xfrm>
          <a:prstGeom prst="roundRect">
            <a:avLst>
              <a:gd name="adj" fmla="val 11765"/>
            </a:avLst>
          </a:prstGeom>
          <a:solidFill>
            <a:srgbClr val="FCEBD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91038" y="1243584"/>
            <a:ext cx="118643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D8452"/>
                </a:solidFill>
              </a:rPr>
              <a:t>S8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11480" y="1554480"/>
            <a:ext cx="11384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554480"/>
            <a:ext cx="73152" cy="155448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175564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4C72B0"/>
                </a:solidFill>
              </a:rPr>
              <a:t>Eng Dados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57784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F7C8A"/>
                </a:solidFill>
              </a:rPr>
              <a:t>Dados, orquestração, qualidade e escala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201168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568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STAC/Zarr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contratos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323469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869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441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Batch GeoSAM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segment store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445770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170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742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QA dados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FinOps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68071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471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9043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Deploy batch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MVP R3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690372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6772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Escala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reprocesso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812673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9073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645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Observab.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linhagem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934974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374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5946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Runbooks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SLAs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10572750" y="155448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36758" y="175564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8FC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82478" y="193852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Estabilizar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operação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411480" y="3108960"/>
            <a:ext cx="11384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3108960"/>
            <a:ext cx="73152" cy="1554480"/>
          </a:xfrm>
          <a:prstGeom prst="rect">
            <a:avLst/>
          </a:prstGeom>
          <a:solidFill>
            <a:srgbClr val="8172B3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331012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8172B3"/>
                </a:solidFill>
              </a:rPr>
              <a:t>Eng Software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557784" y="35844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F7C8A"/>
                </a:solidFill>
              </a:rPr>
              <a:t>APIs, backend, deploy, observabilidade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201168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7568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2140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Arquitetura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serviços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323469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9869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4441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Jobs/API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artefatos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445770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2170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6742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Logs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tracing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568071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4471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9043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Integração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MVP R3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690372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6772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1344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API prod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controles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12673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9073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3645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Dash ops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alertas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934974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1374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5946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Relatório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consumo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10572750" y="310896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636758" y="331012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5F2FA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82478" y="349300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Release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assistida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411480" y="4663440"/>
            <a:ext cx="11384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1480" y="4663440"/>
            <a:ext cx="73152" cy="1554480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784" y="486460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55A868"/>
                </a:solidFill>
              </a:rPr>
              <a:t>Eng Dados + Software</a:t>
            </a:r>
            <a:endParaRPr lang="en-US" sz="1020" dirty="0"/>
          </a:p>
        </p:txBody>
      </p:sp>
      <p:sp>
        <p:nvSpPr>
          <p:cNvPr id="82" name="Text 80"/>
          <p:cNvSpPr/>
          <p:nvPr/>
        </p:nvSpPr>
        <p:spPr>
          <a:xfrm>
            <a:off x="557784" y="5138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F7C8A"/>
                </a:solidFill>
              </a:rPr>
              <a:t>ML pipeline, empacotamento e validação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01168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7568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2140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Base Gold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regras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323469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869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4441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Treino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ResNeXt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445770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2170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6742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Eval espacial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ablação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568071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4471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9043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Inferência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proba</a:t>
            </a:r>
            <a:endParaRPr lang="en-US" sz="660" dirty="0"/>
          </a:p>
        </p:txBody>
      </p:sp>
      <p:sp>
        <p:nvSpPr>
          <p:cNvPr id="95" name="Shape 93"/>
          <p:cNvSpPr/>
          <p:nvPr/>
        </p:nvSpPr>
        <p:spPr>
          <a:xfrm>
            <a:off x="690372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6772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1344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Calibração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temporal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812673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9073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3645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Plantio/colh.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incerteza</a:t>
            </a:r>
            <a:endParaRPr lang="en-US" sz="660" dirty="0"/>
          </a:p>
        </p:txBody>
      </p:sp>
      <p:sp>
        <p:nvSpPr>
          <p:cNvPr id="101" name="Shape 99"/>
          <p:cNvSpPr/>
          <p:nvPr/>
        </p:nvSpPr>
        <p:spPr>
          <a:xfrm>
            <a:off x="934974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374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5946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Shadow run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monitor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10572750" y="4663440"/>
            <a:ext cx="0" cy="155448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636758" y="4864608"/>
            <a:ext cx="1094994" cy="1152144"/>
          </a:xfrm>
          <a:prstGeom prst="roundRect">
            <a:avLst>
              <a:gd name="adj" fmla="val 3340"/>
            </a:avLst>
          </a:prstGeom>
          <a:solidFill>
            <a:srgbClr val="F3FAF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682478" y="5047488"/>
            <a:ext cx="100355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Documentar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A3F5F"/>
                </a:solidFill>
              </a:rPr>
              <a:t>handoff</a:t>
            </a:r>
            <a:endParaRPr lang="en-US" sz="660" dirty="0"/>
          </a:p>
        </p:txBody>
      </p:sp>
      <p:sp>
        <p:nvSpPr>
          <p:cNvPr id="107" name="Text 105"/>
          <p:cNvSpPr/>
          <p:nvPr/>
        </p:nvSpPr>
        <p:spPr>
          <a:xfrm>
            <a:off x="594360" y="6309360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F7C8A"/>
                </a:solidFill>
              </a:rPr>
              <a:t>Como usar: cada célula indica a prioridade primária do engenheiro no sprint; demandas secundárias devem entrar como suporte, não como novo dono.</a:t>
            </a:r>
            <a:endParaRPr lang="en-US" sz="820" dirty="0"/>
          </a:p>
        </p:txBody>
      </p:sp>
      <p:sp>
        <p:nvSpPr>
          <p:cNvPr id="108" name="Shape 10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R3 — objetivo: MVP integrado e mensurável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2633472" cy="82296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72B0"/>
                </a:solidFill>
              </a:rPr>
              <a:t>S1 · 06–24/jul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Contratos de dados, STAC/Zarr e estrutura de outputs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Base Gold inicial e regras de seleção de amostras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Séries de índices por segmento e calendário agrícola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704088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F7C8A"/>
                </a:solidFill>
              </a:rPr>
              <a:t>Entrega intermediária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234440"/>
            <a:ext cx="2633472" cy="82296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A868"/>
                </a:solidFill>
              </a:rPr>
              <a:t>S2 · 27/jul–14/ago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7016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Batch GeoSAM e segment store versionado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Treino ResNeXt baseline + expansão de “outros”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Qualidade de imagem e primeiras regras fenológicas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557016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CEBDC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D8452"/>
                </a:solidFill>
              </a:rPr>
              <a:t>Gate S2: contratos e dados estáveis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208776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234440"/>
            <a:ext cx="2633472" cy="82296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8452"/>
                </a:solidFill>
              </a:rPr>
              <a:t>S3 · 17/ago–04/set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QA de segmentos: pureza, cobertura, tamanho e custo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Avaliação temporal/espacial, calibração inicial e ablações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Baseline de plantio/colheita por série temporal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409944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F7C8A"/>
                </a:solidFill>
              </a:rPr>
              <a:t>Entrega intermediária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061704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1234440"/>
            <a:ext cx="2633472" cy="82296"/>
          </a:xfrm>
          <a:prstGeom prst="rect">
            <a:avLst/>
          </a:prstGeom>
          <a:solidFill>
            <a:srgbClr val="8172B3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72B3"/>
                </a:solidFill>
              </a:rPr>
              <a:t>S4 · 07–25/set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2872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Pipeline MVP rodando fim a fim em amostra controlada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Inferência por data com probabilidades e bloqueio de imagem inválida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Datas de plantio/colheita MVP + métricas básicas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262872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CEBDC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D8452"/>
                </a:solidFill>
              </a:rPr>
              <a:t>Gate S4: MVP R3 aprovado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5486400"/>
            <a:ext cx="10789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486400"/>
            <a:ext cx="73152" cy="5029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5641848"/>
            <a:ext cx="10479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Definição de pronto R3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" y="5961888"/>
            <a:ext cx="10479024" cy="-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Cada modelo deve ter artefatos versionados, métricas mínimas, logs de execução, critério de imagem inválida e integração no fluxo batch, mesmo que ainda em amostra controlada.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R4 — objetivo: escala, robustez e operação assistida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2633472" cy="82296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72B0"/>
                </a:solidFill>
              </a:rPr>
              <a:t>S5 · 28/set–16/out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Escalar segmentação para maior cobertura e reprocessamento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Calibrar classificação e consolidar evidência temporal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Validar plantio/colheita por região e cultura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704088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F7C8A"/>
                </a:solidFill>
              </a:rPr>
              <a:t>Entrega de robustez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234440"/>
            <a:ext cx="2633472" cy="82296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A868"/>
                </a:solidFill>
              </a:rPr>
              <a:t>S6 · 19/out–06/nov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7016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Observabilidade, linhagem, custo e SLAs do pipeline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Hard negatives, revisão ativa e limiares de decisão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Incerteza para datas fenológicas e integração com classificação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557016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E2F1E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A868"/>
                </a:solidFill>
              </a:rPr>
              <a:t>Gate S6: escala + calibração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208776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234440"/>
            <a:ext cx="2633472" cy="82296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8452"/>
                </a:solidFill>
              </a:rPr>
              <a:t>S7 · 09–27/nov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Shadow run em carteira/área piloto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Monitoramento de drift, exceções e revisão operacional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Integração com relatório/API e consumo por negócio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409944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F7C8A"/>
                </a:solidFill>
              </a:rPr>
              <a:t>Entrega de robustez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061704" y="1234440"/>
            <a:ext cx="2633472" cy="39776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1234440"/>
            <a:ext cx="2633472" cy="82296"/>
          </a:xfrm>
          <a:prstGeom prst="rect">
            <a:avLst/>
          </a:prstGeom>
          <a:solidFill>
            <a:srgbClr val="8172B3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14356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72B3"/>
                </a:solidFill>
              </a:rPr>
              <a:t>S8 · 30/nov–18/dez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2872" y="1947672"/>
            <a:ext cx="22128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Estabilização, documentação e handoff de operação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Release assistida com runbook e critérios de rollback
</a:t>
            </a:r>
            <a:pPr indent="0" marL="0">
              <a:buNone/>
            </a:pPr>
            <a:r>
              <a:rPr lang="en-US" sz="830" dirty="0">
                <a:solidFill>
                  <a:srgbClr val="2A3F5F"/>
                </a:solidFill>
              </a:rPr>
              <a:t>• Backlog R5: modelos temporais avançados e expansão territorial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262872" y="4416552"/>
            <a:ext cx="2212848" cy="512064"/>
          </a:xfrm>
          <a:prstGeom prst="roundRect">
            <a:avLst>
              <a:gd name="adj" fmla="val 8929"/>
            </a:avLst>
          </a:prstGeom>
          <a:solidFill>
            <a:srgbClr val="E2F1E5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459028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A868"/>
                </a:solidFill>
              </a:rPr>
              <a:t>Gate S8: operação assistida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5486400"/>
            <a:ext cx="10789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486400"/>
            <a:ext cx="73152" cy="5029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5641848"/>
            <a:ext cx="10479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Definição de pronto R4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" y="5961888"/>
            <a:ext cx="10479024" cy="-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Pipeline executável de forma assistida, com alertas, métricas por domínio, controle de custo, documentação, rollback e critérios explícitos de quando não tomar decisão por falta de evidência.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atuação: donos, suporte e handoffs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73152" cy="132588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258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Eng Dados · Dono de dados e escala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645920"/>
            <a:ext cx="3163824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Ingestão Sentinel‑2, STAC/Zarr, orquestração batch, segment store, qualidade de imagem, linhagem, custo e reprocessamento.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1170432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170432"/>
            <a:ext cx="73152" cy="1325880"/>
          </a:xfrm>
          <a:prstGeom prst="rect">
            <a:avLst/>
          </a:prstGeom>
          <a:solidFill>
            <a:srgbClr val="8172B3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3258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Eng Software · Dono de produto técnico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1645920"/>
            <a:ext cx="3163824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APIs, backend, integração com consumo, deploy, observabilidade, controle de versão, autenticação e mecanismos de operação.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83880" y="1170432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170432"/>
            <a:ext cx="73152" cy="1325880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3258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Eng Dados + Software · Dono ML/Ops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5048" y="1645920"/>
            <a:ext cx="3163824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Empacotamento de modelos, jobs de inferência, validação automatizada, calibração, experimentos e transição notebook → produção.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4360" y="2880360"/>
            <a:ext cx="3913632" cy="329184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980944"/>
            <a:ext cx="37673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A3F5F"/>
                </a:solidFill>
              </a:rPr>
              <a:t>Frente / Entrega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2343912" cy="329184"/>
          </a:xfrm>
          <a:prstGeom prst="roundRect">
            <a:avLst>
              <a:gd name="adj" fmla="val 8333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980944"/>
            <a:ext cx="2197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A3F5F"/>
                </a:solidFill>
              </a:rPr>
              <a:t>Eng Dados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88480" y="2880360"/>
            <a:ext cx="2343912" cy="329184"/>
          </a:xfrm>
          <a:prstGeom prst="roundRect">
            <a:avLst>
              <a:gd name="adj" fmla="val 8333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1632" y="2980944"/>
            <a:ext cx="2197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A3F5F"/>
                </a:solidFill>
              </a:rPr>
              <a:t>Eng Software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250680" y="2880360"/>
            <a:ext cx="2343912" cy="329184"/>
          </a:xfrm>
          <a:prstGeom prst="roundRect">
            <a:avLst>
              <a:gd name="adj" fmla="val 8333"/>
            </a:avLst>
          </a:prstGeom>
          <a:solidFill>
            <a:srgbClr val="E8EE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3832" y="2980944"/>
            <a:ext cx="21976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A3F5F"/>
                </a:solidFill>
              </a:rPr>
              <a:t>Eng Dados+Software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94360" y="3675888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401568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Segmentação GeoSAM em lote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4572000" y="339242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934200" y="339242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296400" y="339242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94360" y="4059936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785616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Qualidade da imagem e segmentos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572000" y="3776472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934200" y="3776472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9296400" y="3776472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94360" y="4443984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169664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Base Gold, treino e avaliação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4572000" y="4160520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934200" y="4160520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9296400" y="4160520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A/R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94360" y="4828032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553712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Inferência e empacotamento de modelos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4572000" y="4544568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934200" y="4544568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296400" y="4544568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94360" y="5212080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937760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APIs, observabilidade e consumo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4572000" y="4928616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934200" y="4928616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A/R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9296400" y="4928616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F7C8A"/>
                </a:solidFill>
              </a:rPr>
              <a:t>C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94360" y="5596128"/>
            <a:ext cx="1101852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" y="5321808"/>
            <a:ext cx="3794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A3F5F"/>
                </a:solidFill>
              </a:rPr>
              <a:t>Release, runbook e operação assistida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4572000" y="531266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934200" y="531266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A868"/>
                </a:solidFill>
              </a:rPr>
              <a:t>A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9296400" y="5312664"/>
            <a:ext cx="2270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C72B0"/>
                </a:solidFill>
              </a:rPr>
              <a:t>R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594360" y="5577840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F7C8A"/>
                </a:solidFill>
              </a:rPr>
              <a:t>Legenda: A = accountable / aprova; R = responsável pela execução; C = consultado ou suporte técnico.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C7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MODELAGEM AGRO · SENSORIAMENTO REMOTO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9601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A3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Critérios de controle: gates, riscos e mitigação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73152" cy="1170432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Gate S2 · Dados estáveis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645920"/>
            <a:ext cx="229514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Contratos, filtros de qualidade e sample store prontos para treino/reprocesso.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55848" y="117043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170432"/>
            <a:ext cx="73152" cy="1170432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Gate S4 · MVP R3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7016" y="1645920"/>
            <a:ext cx="229514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Pipeline fim a fim em amostra controlada, com outputs versionados e métricas básicas.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08776" y="117043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70432"/>
            <a:ext cx="73152" cy="1170432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Gate S6 · Escala R4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9944" y="1645920"/>
            <a:ext cx="229514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Custos, calibração, observabilidade e validação regional sob controle.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061704" y="1170432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1704" y="1170432"/>
            <a:ext cx="73152" cy="1170432"/>
          </a:xfrm>
          <a:prstGeom prst="rect">
            <a:avLst/>
          </a:prstGeom>
          <a:solidFill>
            <a:srgbClr val="8172B3"/>
          </a:solidFill>
          <a:ln w="12700">
            <a:solidFill>
              <a:srgbClr val="8172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Gate S8 · Operação assistida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62872" y="1645920"/>
            <a:ext cx="229514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Runbook, alertas, shadow run, rollback e consumo de negócio preparados.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94360" y="2880360"/>
            <a:ext cx="10972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044952"/>
            <a:ext cx="4754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F5F"/>
                </a:solidFill>
              </a:rPr>
              <a:t>Riscos que devem aparecer no quadro do Gantt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" y="34107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3401568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A3F5F"/>
                </a:solidFill>
              </a:rPr>
              <a:t>Rótulo SICOR temporalmente ruidoso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4709160" y="3401568"/>
            <a:ext cx="6492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F7C8A"/>
                </a:solidFill>
              </a:rPr>
              <a:t>Usar base Gold, janela conservadora e categoria “sem evidência”.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795528" y="3767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3758184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A3F5F"/>
                </a:solidFill>
              </a:rPr>
              <a:t>Nuvem/sombra degradando predição por data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4709160" y="3758184"/>
            <a:ext cx="6492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F7C8A"/>
                </a:solidFill>
              </a:rPr>
              <a:t>Bloquear observações inválidas e usar qualidade como peso temporal.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795528" y="412394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4114800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A3F5F"/>
                </a:solidFill>
              </a:rPr>
              <a:t>Viés MG/SP e baixa transferência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4709160" y="4114800"/>
            <a:ext cx="6492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F7C8A"/>
                </a:solidFill>
              </a:rPr>
              <a:t>Validar por UF/município não visto e criar expansão amostral priorizada.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795528" y="448056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4471416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A3F5F"/>
                </a:solidFill>
              </a:rPr>
              <a:t>Pipeline caro ou instável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4709160" y="4471416"/>
            <a:ext cx="6492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F7C8A"/>
                </a:solidFill>
              </a:rPr>
              <a:t>Medir custo por CAR/segmento, usar batch incremental e controle de reprocessamento.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795528" y="48371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" y="4828032"/>
            <a:ext cx="3474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A3F5F"/>
                </a:solidFill>
              </a:rPr>
              <a:t>Dependência excessiva de poucos engenheiros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4709160" y="4828032"/>
            <a:ext cx="6492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F7C8A"/>
                </a:solidFill>
              </a:rPr>
              <a:t>RACI explícito, runbooks, handoff técnico e decisões por gate.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685800" y="5623560"/>
            <a:ext cx="10789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623560"/>
            <a:ext cx="73152" cy="530352"/>
          </a:xfrm>
          <a:prstGeom prst="rect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5779008"/>
            <a:ext cx="10479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3F5F"/>
                </a:solidFill>
              </a:rPr>
              <a:t>Próximo passo sugerido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86968" y="6099048"/>
            <a:ext cx="10479024" cy="-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F7C8A"/>
                </a:solidFill>
              </a:rPr>
              <a:t>Transformar este Gantt em backlog: para cada barra, abrir épico/feature com Definition of Ready, Definition of Done, owner primário e dependências explícitas entre dados, software e ML.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19672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C8A"/>
                </a:solidFill>
              </a:rPr>
              <a:t>Pipeline produtivo · Sprints de 3 semanas · Início 06/07/2026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0140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C8A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Gantt — Pipeline Sensoriamento Remoto</dc:title>
  <dc:subject>Cronograma de implantação produtiva do pipeline de sensoriamento remoto</dc:subject>
  <dc:creator>OpenAI</dc:creator>
  <cp:lastModifiedBy>OpenAI</cp:lastModifiedBy>
  <cp:revision>1</cp:revision>
  <dcterms:created xsi:type="dcterms:W3CDTF">2026-06-30T23:04:18Z</dcterms:created>
  <dcterms:modified xsi:type="dcterms:W3CDTF">2026-06-30T23:04:18Z</dcterms:modified>
</cp:coreProperties>
</file>